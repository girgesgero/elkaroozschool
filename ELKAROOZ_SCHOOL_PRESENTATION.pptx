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image" Target="../media/image17.png"/><Relationship Id="rId5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-1645920"/>
            <a:ext cx="5486400" cy="5486400"/>
          </a:xfrm>
          <a:prstGeom prst="ellipse">
            <a:avLst/>
          </a:prstGeom>
          <a:solidFill>
            <a:srgbClr val="0A1838"/>
          </a:solidFill>
          <a:ln w="25400">
            <a:solidFill>
              <a:srgbClr val="1A3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-914400" y="-914400"/>
            <a:ext cx="4754880" cy="4754880"/>
          </a:xfrm>
          <a:prstGeom prst="donut">
            <a:avLst/>
          </a:prstGeom>
          <a:solidFill>
            <a:srgbClr val="8E1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3474720"/>
            <a:ext cx="5303520" cy="5303520"/>
          </a:xfrm>
          <a:prstGeom prst="ellipse">
            <a:avLst/>
          </a:prstGeom>
          <a:solidFill>
            <a:srgbClr val="0F224C"/>
          </a:solidFill>
          <a:ln w="25400">
            <a:solidFill>
              <a:srgbClr val="1A3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nut 5"/>
          <p:cNvSpPr/>
          <p:nvPr/>
        </p:nvSpPr>
        <p:spPr>
          <a:xfrm>
            <a:off x="9326880" y="4114800"/>
            <a:ext cx="4023360" cy="4023360"/>
          </a:xfrm>
          <a:prstGeom prst="donut">
            <a:avLst/>
          </a:prstGeom>
          <a:solidFill>
            <a:srgbClr val="DA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47120" y="1645920"/>
            <a:ext cx="365760" cy="365760"/>
          </a:xfrm>
          <a:prstGeom prst="ellipse">
            <a:avLst/>
          </a:prstGeom>
          <a:solidFill>
            <a:srgbClr val="00B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5303520"/>
            <a:ext cx="320040" cy="320040"/>
          </a:xfrm>
          <a:prstGeom prst="ellipse">
            <a:avLst/>
          </a:prstGeom>
          <a:solidFill>
            <a:srgbClr val="FC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nut 8"/>
          <p:cNvSpPr/>
          <p:nvPr/>
        </p:nvSpPr>
        <p:spPr>
          <a:xfrm>
            <a:off x="7589520" y="1188720"/>
            <a:ext cx="4297680" cy="4297680"/>
          </a:xfrm>
          <a:prstGeom prst="donut">
            <a:avLst/>
          </a:prstGeom>
          <a:solidFill>
            <a:srgbClr val="0F224C"/>
          </a:solidFill>
          <a:ln w="25400">
            <a:solidFill>
              <a:srgbClr val="DAB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600200"/>
            <a:ext cx="3474720" cy="3474720"/>
          </a:xfrm>
          <a:prstGeom prst="rect">
            <a:avLst/>
          </a:prstGeom>
        </p:spPr>
      </p:pic>
      <p:pic>
        <p:nvPicPr>
          <p:cNvPr id="11" name="Picture 10" descr="mockup_phone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2103120"/>
            <a:ext cx="2103120" cy="42062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1520" y="1097280"/>
            <a:ext cx="6858000" cy="4846320"/>
          </a:xfrm>
          <a:prstGeom prst="roundRect">
            <a:avLst/>
          </a:prstGeom>
          <a:solidFill>
            <a:srgbClr val="0F224C"/>
          </a:solidFill>
          <a:ln w="25400">
            <a:solidFill>
              <a:srgbClr val="DAB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20040"/>
          <a:lstStyle/>
          <a:p>
            <a:pPr algn="r">
              <a:defRPr sz="1700" b="1">
                <a:solidFill>
                  <a:srgbClr val="FCDE80"/>
                </a:solidFill>
                <a:latin typeface="Dubai"/>
              </a:defRPr>
            </a:pPr>
            <a:r>
              <a:t>مطرانية شبرا الخيمة وتوابعها • كنيسة مارمرقس الرسول بالمنشية</a:t>
            </a:r>
          </a:p>
          <a:p>
            <a:pPr algn="r">
              <a:spcBef>
                <a:spcPts val="800"/>
              </a:spcBef>
              <a:defRPr sz="4000" b="1">
                <a:solidFill>
                  <a:srgbClr val="FFFFFF"/>
                </a:solidFill>
                <a:latin typeface="Dubai"/>
              </a:defRPr>
            </a:pPr>
            <a:r>
              <a:t>مدرسة الكاروز للكتاب المقدس</a:t>
            </a:r>
          </a:p>
          <a:p>
            <a:pPr algn="r">
              <a:spcBef>
                <a:spcPts val="1200"/>
              </a:spcBef>
              <a:defRPr sz="1800">
                <a:solidFill>
                  <a:srgbClr val="BECDE1"/>
                </a:solidFill>
                <a:latin typeface="Dubai"/>
              </a:defRPr>
            </a:pPr>
            <a:r>
              <a:t>المنظومة الرقمية الشاملة للتعليم الأكاديمي، إدارة الفرق، رصد الحضور الذكي، وموسوعة الكتاب المقدس والتفاسير.</a:t>
            </a:r>
          </a:p>
        </p:txBody>
      </p:sp>
      <p:pic>
        <p:nvPicPr>
          <p:cNvPr id="13" name="Picture 12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325880"/>
            <a:ext cx="1051560" cy="1051560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1097280" y="4297680"/>
            <a:ext cx="1371600" cy="1371600"/>
          </a:xfrm>
          <a:prstGeom prst="ellipse">
            <a:avLst/>
          </a:prstGeom>
          <a:solidFill>
            <a:srgbClr val="0A1838"/>
          </a:solidFill>
          <a:ln w="31750">
            <a:solidFill>
              <a:srgbClr val="00B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2000" b="1">
                <a:solidFill>
                  <a:srgbClr val="00BEE4"/>
                </a:solidFill>
                <a:latin typeface="Dubai"/>
              </a:defRPr>
            </a:pPr>
            <a:r>
              <a:t>٣ فرق</a:t>
            </a:r>
          </a:p>
          <a:p>
            <a:pPr algn="ctr">
              <a:defRPr sz="1100" b="1">
                <a:solidFill>
                  <a:srgbClr val="FFFFFF"/>
                </a:solidFill>
                <a:latin typeface="Dubai"/>
              </a:defRPr>
            </a:pPr>
            <a:r>
              <a:t>دراسية كاملة</a:t>
            </a:r>
          </a:p>
        </p:txBody>
      </p:sp>
      <p:sp>
        <p:nvSpPr>
          <p:cNvPr id="15" name="Oval 14"/>
          <p:cNvSpPr/>
          <p:nvPr/>
        </p:nvSpPr>
        <p:spPr>
          <a:xfrm>
            <a:off x="3200400" y="4297680"/>
            <a:ext cx="1371600" cy="1371600"/>
          </a:xfrm>
          <a:prstGeom prst="ellipse">
            <a:avLst/>
          </a:prstGeom>
          <a:solidFill>
            <a:srgbClr val="0A1838"/>
          </a:solidFill>
          <a:ln w="31750">
            <a:solidFill>
              <a:srgbClr val="FC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2000" b="1">
                <a:solidFill>
                  <a:srgbClr val="FCDE80"/>
                </a:solidFill>
                <a:latin typeface="Dubai"/>
              </a:defRPr>
            </a:pPr>
            <a:r>
              <a:t>PWA</a:t>
            </a:r>
          </a:p>
          <a:p>
            <a:pPr algn="ctr">
              <a:defRPr sz="1100" b="1">
                <a:solidFill>
                  <a:srgbClr val="FFFFFF"/>
                </a:solidFill>
                <a:latin typeface="Dubai"/>
              </a:defRPr>
            </a:pPr>
            <a:r>
              <a:t>تطبيق هاتف ذكي</a:t>
            </a:r>
          </a:p>
        </p:txBody>
      </p:sp>
      <p:sp>
        <p:nvSpPr>
          <p:cNvPr id="16" name="Oval 15"/>
          <p:cNvSpPr/>
          <p:nvPr/>
        </p:nvSpPr>
        <p:spPr>
          <a:xfrm>
            <a:off x="5303520" y="4297680"/>
            <a:ext cx="1371600" cy="1371600"/>
          </a:xfrm>
          <a:prstGeom prst="ellipse">
            <a:avLst/>
          </a:prstGeom>
          <a:solidFill>
            <a:srgbClr val="0A1838"/>
          </a:solidFill>
          <a:ln w="31750">
            <a:solidFill>
              <a:srgbClr val="10C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2000" b="1">
                <a:solidFill>
                  <a:srgbClr val="10C48A"/>
                </a:solidFill>
                <a:latin typeface="Dubai"/>
              </a:defRPr>
            </a:pPr>
            <a:r>
              <a:t>١٠٠٪</a:t>
            </a:r>
          </a:p>
          <a:p>
            <a:pPr algn="ctr">
              <a:defRPr sz="1100" b="1">
                <a:solidFill>
                  <a:srgbClr val="FFFFFF"/>
                </a:solidFill>
                <a:latin typeface="Dubai"/>
              </a:defRPr>
            </a:pPr>
            <a:r>
              <a:t>أمان وصلاحيات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-1645920"/>
            <a:ext cx="5486400" cy="5486400"/>
          </a:xfrm>
          <a:prstGeom prst="ellipse">
            <a:avLst/>
          </a:prstGeom>
          <a:solidFill>
            <a:srgbClr val="0A1838"/>
          </a:solidFill>
          <a:ln w="25400">
            <a:solidFill>
              <a:srgbClr val="1A3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-914400" y="-914400"/>
            <a:ext cx="4754880" cy="4754880"/>
          </a:xfrm>
          <a:prstGeom prst="donut">
            <a:avLst/>
          </a:prstGeom>
          <a:solidFill>
            <a:srgbClr val="E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3474720"/>
            <a:ext cx="5303520" cy="5303520"/>
          </a:xfrm>
          <a:prstGeom prst="ellipse">
            <a:avLst/>
          </a:prstGeom>
          <a:solidFill>
            <a:srgbClr val="0F224C"/>
          </a:solidFill>
          <a:ln w="25400">
            <a:solidFill>
              <a:srgbClr val="1A3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nut 5"/>
          <p:cNvSpPr/>
          <p:nvPr/>
        </p:nvSpPr>
        <p:spPr>
          <a:xfrm>
            <a:off x="9326880" y="4114800"/>
            <a:ext cx="4023360" cy="4023360"/>
          </a:xfrm>
          <a:prstGeom prst="donut">
            <a:avLst/>
          </a:prstGeom>
          <a:solidFill>
            <a:srgbClr val="DA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47120" y="1645920"/>
            <a:ext cx="365760" cy="365760"/>
          </a:xfrm>
          <a:prstGeom prst="ellipse">
            <a:avLst/>
          </a:prstGeom>
          <a:solidFill>
            <a:srgbClr val="00B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5303520"/>
            <a:ext cx="320040" cy="320040"/>
          </a:xfrm>
          <a:prstGeom prst="ellipse">
            <a:avLst/>
          </a:prstGeom>
          <a:solidFill>
            <a:srgbClr val="FC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589520" y="365760"/>
            <a:ext cx="3840480" cy="411480"/>
          </a:xfrm>
          <a:prstGeom prst="roundRect">
            <a:avLst/>
          </a:prstGeom>
          <a:solidFill>
            <a:srgbClr val="0F224C"/>
          </a:solidFill>
          <a:ln w="19050">
            <a:solidFill>
              <a:srgbClr val="DAB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CDE80"/>
                </a:solidFill>
                <a:latin typeface="Dubai"/>
              </a:defRPr>
            </a:pPr>
            <a:r>
              <a:t>✨ المشكلات الواقعية السابقة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6858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200" b="1">
                <a:solidFill>
                  <a:srgbClr val="FFFFFF"/>
                </a:solidFill>
                <a:latin typeface="Dubai"/>
              </a:defRPr>
            </a:pPr>
            <a:r>
              <a:t>لماذا احتاجت مدرسة الكاروز إلى المنظومة الرقمية؟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92608"/>
            <a:ext cx="1051560" cy="1051560"/>
          </a:xfrm>
          <a:prstGeom prst="ellipse">
            <a:avLst/>
          </a:prstGeom>
          <a:solidFill>
            <a:srgbClr val="0F224C"/>
          </a:solidFill>
          <a:ln w="19050">
            <a:solidFill>
              <a:srgbClr val="DAB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56616"/>
            <a:ext cx="914400" cy="9144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31520" y="1536192"/>
            <a:ext cx="10728655" cy="27432"/>
          </a:xfrm>
          <a:prstGeom prst="rect">
            <a:avLst/>
          </a:prstGeom>
          <a:solidFill>
            <a:srgbClr val="DAB23C"/>
          </a:solidFill>
          <a:ln>
            <a:solidFill>
              <a:srgbClr val="DAB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0" y="1517904"/>
            <a:ext cx="4144975" cy="54864"/>
          </a:xfrm>
          <a:prstGeom prst="rect">
            <a:avLst/>
          </a:prstGeom>
          <a:solidFill>
            <a:srgbClr val="00BEE4"/>
          </a:solidFill>
          <a:ln>
            <a:solidFill>
              <a:srgbClr val="00B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1A3876"/>
          </a:solidFill>
          <a:ln>
            <a:solidFill>
              <a:srgbClr val="1A3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292840" y="6492240"/>
            <a:ext cx="146304" cy="146304"/>
          </a:xfrm>
          <a:prstGeom prst="ellipse">
            <a:avLst/>
          </a:prstGeom>
          <a:solidFill>
            <a:srgbClr val="10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ECDE1"/>
                </a:solidFill>
                <a:latin typeface="Dubai"/>
              </a:defRPr>
            </a:pPr>
            <a:r>
              <a:t>مدرسة الكاروز للكتاب المقدس • كنيسة مارمرقس الرسول بالمنشية — شبرا الخيمة  |  elkaroozschool1.vercel.app</a:t>
            </a:r>
          </a:p>
        </p:txBody>
      </p:sp>
      <p:sp>
        <p:nvSpPr>
          <p:cNvPr id="18" name="Donut 17"/>
          <p:cNvSpPr/>
          <p:nvPr/>
        </p:nvSpPr>
        <p:spPr>
          <a:xfrm>
            <a:off x="731520" y="1828800"/>
            <a:ext cx="3657600" cy="3657600"/>
          </a:xfrm>
          <a:prstGeom prst="donut">
            <a:avLst/>
          </a:prstGeom>
          <a:solidFill>
            <a:srgbClr val="0A1838"/>
          </a:solidFill>
          <a:ln w="31750">
            <a:solidFill>
              <a:srgbClr val="E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_manuscri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103120"/>
            <a:ext cx="3108960" cy="310896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1005840" y="4937760"/>
            <a:ext cx="3108960" cy="868680"/>
          </a:xfrm>
          <a:prstGeom prst="roundRect">
            <a:avLst/>
          </a:prstGeom>
          <a:solidFill>
            <a:srgbClr val="8E143A"/>
          </a:solidFill>
          <a:ln w="25400">
            <a:solidFill>
              <a:srgbClr val="E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Dubai"/>
              </a:defRPr>
            </a:pPr>
            <a:r>
              <a:t>⚠️ تحديات تقليدية عطلت الخدمة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1783080"/>
            <a:ext cx="6796735" cy="1280160"/>
          </a:xfrm>
          <a:prstGeom prst="roundRect">
            <a:avLst/>
          </a:prstGeom>
          <a:solidFill>
            <a:srgbClr val="0F224C"/>
          </a:solidFill>
          <a:ln w="19050">
            <a:solidFill>
              <a:srgbClr val="E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1051560" lIns="274320" tIns="164592"/>
          <a:lstStyle/>
          <a:p>
            <a:pPr algn="r">
              <a:defRPr sz="2000" b="1">
                <a:solidFill>
                  <a:srgbClr val="FCDE80"/>
                </a:solidFill>
                <a:latin typeface="Dubai"/>
              </a:defRPr>
            </a:pPr>
            <a:r>
              <a:t>فقدان وتشتت السجلات الورقية وإكسل</a:t>
            </a:r>
          </a:p>
          <a:p>
            <a:pPr algn="r">
              <a:spcBef>
                <a:spcPts val="400"/>
              </a:spcBef>
              <a:defRPr sz="1600">
                <a:solidFill>
                  <a:srgbClr val="FFFFFF"/>
                </a:solidFill>
                <a:latin typeface="Dubai"/>
              </a:defRPr>
            </a:pPr>
            <a:r>
              <a:t>الاعتماد على الكشوفات اليدوية يعرّض بيانات ودرجات مئات الطلاب للتلف وصعوبة البحث والاسترجاع.</a:t>
            </a:r>
          </a:p>
        </p:txBody>
      </p:sp>
      <p:sp>
        <p:nvSpPr>
          <p:cNvPr id="22" name="Oval 21"/>
          <p:cNvSpPr/>
          <p:nvPr/>
        </p:nvSpPr>
        <p:spPr>
          <a:xfrm>
            <a:off x="10469880" y="2039112"/>
            <a:ext cx="777240" cy="777240"/>
          </a:xfrm>
          <a:prstGeom prst="ellipse">
            <a:avLst/>
          </a:prstGeom>
          <a:solidFill>
            <a:srgbClr val="E1324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3246120"/>
            <a:ext cx="6796735" cy="1280160"/>
          </a:xfrm>
          <a:prstGeom prst="roundRect">
            <a:avLst/>
          </a:prstGeom>
          <a:solidFill>
            <a:srgbClr val="0F224C"/>
          </a:solidFill>
          <a:ln w="19050">
            <a:solidFill>
              <a:srgbClr val="8E1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1051560" lIns="274320" tIns="164592"/>
          <a:lstStyle/>
          <a:p>
            <a:pPr algn="r">
              <a:defRPr sz="2000" b="1">
                <a:solidFill>
                  <a:srgbClr val="FCDE80"/>
                </a:solidFill>
                <a:latin typeface="Dubai"/>
              </a:defRPr>
            </a:pPr>
            <a:r>
              <a:t>استنزاف ساعات الخدمة في رصد الحضور</a:t>
            </a:r>
          </a:p>
          <a:p>
            <a:pPr algn="r">
              <a:spcBef>
                <a:spcPts val="400"/>
              </a:spcBef>
              <a:defRPr sz="1600">
                <a:solidFill>
                  <a:srgbClr val="FFFFFF"/>
                </a:solidFill>
                <a:latin typeface="Dubai"/>
              </a:defRPr>
            </a:pPr>
            <a:r>
              <a:t>استهلاك أوقات الاجتماعات في تحضير الطلاب ورقياً دون إحصائيات فورية للمتابعة والرعاية.</a:t>
            </a:r>
          </a:p>
        </p:txBody>
      </p:sp>
      <p:sp>
        <p:nvSpPr>
          <p:cNvPr id="24" name="Oval 23"/>
          <p:cNvSpPr/>
          <p:nvPr/>
        </p:nvSpPr>
        <p:spPr>
          <a:xfrm>
            <a:off x="10469880" y="3502152"/>
            <a:ext cx="777240" cy="777240"/>
          </a:xfrm>
          <a:prstGeom prst="ellipse">
            <a:avLst/>
          </a:prstGeom>
          <a:solidFill>
            <a:srgbClr val="8E143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4709160"/>
            <a:ext cx="6796735" cy="1280160"/>
          </a:xfrm>
          <a:prstGeom prst="roundRect">
            <a:avLst/>
          </a:prstGeom>
          <a:solidFill>
            <a:srgbClr val="0F224C"/>
          </a:solidFill>
          <a:ln w="19050">
            <a:solidFill>
              <a:srgbClr val="1A3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1051560" lIns="274320" tIns="164592"/>
          <a:lstStyle/>
          <a:p>
            <a:pPr algn="r">
              <a:defRPr sz="2000" b="1">
                <a:solidFill>
                  <a:srgbClr val="FCDE80"/>
                </a:solidFill>
                <a:latin typeface="Dubai"/>
              </a:defRPr>
            </a:pPr>
            <a:r>
              <a:t>تشتت المناهج والتفاسير عبر جروبات الواتساب</a:t>
            </a:r>
          </a:p>
          <a:p>
            <a:pPr algn="r">
              <a:spcBef>
                <a:spcPts val="400"/>
              </a:spcBef>
              <a:defRPr sz="1600">
                <a:solidFill>
                  <a:srgbClr val="FFFFFF"/>
                </a:solidFill>
                <a:latin typeface="Dubai"/>
              </a:defRPr>
            </a:pPr>
            <a:r>
              <a:t>إرسال المحاضرات والتسجيلات كروابط متفرقة يفقدها التوثيق والتنظيم ويرهق الطالب في الدراسة.</a:t>
            </a:r>
          </a:p>
        </p:txBody>
      </p:sp>
      <p:sp>
        <p:nvSpPr>
          <p:cNvPr id="26" name="Oval 25"/>
          <p:cNvSpPr/>
          <p:nvPr/>
        </p:nvSpPr>
        <p:spPr>
          <a:xfrm>
            <a:off x="10469880" y="4965192"/>
            <a:ext cx="777240" cy="777240"/>
          </a:xfrm>
          <a:prstGeom prst="ellipse">
            <a:avLst/>
          </a:prstGeom>
          <a:solidFill>
            <a:srgbClr val="1A387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-1645920"/>
            <a:ext cx="5486400" cy="5486400"/>
          </a:xfrm>
          <a:prstGeom prst="ellipse">
            <a:avLst/>
          </a:prstGeom>
          <a:solidFill>
            <a:srgbClr val="0A1838"/>
          </a:solidFill>
          <a:ln w="25400">
            <a:solidFill>
              <a:srgbClr val="1A3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-914400" y="-914400"/>
            <a:ext cx="4754880" cy="4754880"/>
          </a:xfrm>
          <a:prstGeom prst="donut">
            <a:avLst/>
          </a:prstGeom>
          <a:solidFill>
            <a:srgbClr val="00B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3474720"/>
            <a:ext cx="5303520" cy="5303520"/>
          </a:xfrm>
          <a:prstGeom prst="ellipse">
            <a:avLst/>
          </a:prstGeom>
          <a:solidFill>
            <a:srgbClr val="0F224C"/>
          </a:solidFill>
          <a:ln w="25400">
            <a:solidFill>
              <a:srgbClr val="1A3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nut 5"/>
          <p:cNvSpPr/>
          <p:nvPr/>
        </p:nvSpPr>
        <p:spPr>
          <a:xfrm>
            <a:off x="9326880" y="4114800"/>
            <a:ext cx="4023360" cy="4023360"/>
          </a:xfrm>
          <a:prstGeom prst="donut">
            <a:avLst/>
          </a:prstGeom>
          <a:solidFill>
            <a:srgbClr val="DA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47120" y="1645920"/>
            <a:ext cx="365760" cy="365760"/>
          </a:xfrm>
          <a:prstGeom prst="ellipse">
            <a:avLst/>
          </a:prstGeom>
          <a:solidFill>
            <a:srgbClr val="00B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5303520"/>
            <a:ext cx="320040" cy="320040"/>
          </a:xfrm>
          <a:prstGeom prst="ellipse">
            <a:avLst/>
          </a:prstGeom>
          <a:solidFill>
            <a:srgbClr val="FC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589520" y="365760"/>
            <a:ext cx="3840480" cy="411480"/>
          </a:xfrm>
          <a:prstGeom prst="roundRect">
            <a:avLst/>
          </a:prstGeom>
          <a:solidFill>
            <a:srgbClr val="0F224C"/>
          </a:solidFill>
          <a:ln w="19050">
            <a:solidFill>
              <a:srgbClr val="DAB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CDE80"/>
                </a:solidFill>
                <a:latin typeface="Dubai"/>
              </a:defRPr>
            </a:pPr>
            <a:r>
              <a:t>✨ التحول الرقمي والرسالة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6858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200" b="1">
                <a:solidFill>
                  <a:srgbClr val="FFFFFF"/>
                </a:solidFill>
                <a:latin typeface="Dubai"/>
              </a:defRPr>
            </a:pPr>
            <a:r>
              <a:t>أهداف المنظومة ورؤيتها الاستراتيجية للمستقبل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92608"/>
            <a:ext cx="1051560" cy="1051560"/>
          </a:xfrm>
          <a:prstGeom prst="ellipse">
            <a:avLst/>
          </a:prstGeom>
          <a:solidFill>
            <a:srgbClr val="0F224C"/>
          </a:solidFill>
          <a:ln w="19050">
            <a:solidFill>
              <a:srgbClr val="DAB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56616"/>
            <a:ext cx="914400" cy="9144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31520" y="1536192"/>
            <a:ext cx="10728655" cy="27432"/>
          </a:xfrm>
          <a:prstGeom prst="rect">
            <a:avLst/>
          </a:prstGeom>
          <a:solidFill>
            <a:srgbClr val="DAB23C"/>
          </a:solidFill>
          <a:ln>
            <a:solidFill>
              <a:srgbClr val="DAB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0" y="1517904"/>
            <a:ext cx="4144975" cy="54864"/>
          </a:xfrm>
          <a:prstGeom prst="rect">
            <a:avLst/>
          </a:prstGeom>
          <a:solidFill>
            <a:srgbClr val="00BEE4"/>
          </a:solidFill>
          <a:ln>
            <a:solidFill>
              <a:srgbClr val="00B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1A3876"/>
          </a:solidFill>
          <a:ln>
            <a:solidFill>
              <a:srgbClr val="1A3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292840" y="6492240"/>
            <a:ext cx="146304" cy="146304"/>
          </a:xfrm>
          <a:prstGeom prst="ellipse">
            <a:avLst/>
          </a:prstGeom>
          <a:solidFill>
            <a:srgbClr val="10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ECDE1"/>
                </a:solidFill>
                <a:latin typeface="Dubai"/>
              </a:defRPr>
            </a:pPr>
            <a:r>
              <a:t>مدرسة الكاروز للكتاب المقدس • كنيسة مارمرقس الرسول بالمنشية — شبرا الخيمة  |  elkaroozschool1.vercel.app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783080"/>
            <a:ext cx="3413455" cy="4343400"/>
          </a:xfrm>
          <a:prstGeom prst="roundRect">
            <a:avLst/>
          </a:prstGeom>
          <a:solidFill>
            <a:srgbClr val="0F224C"/>
          </a:solidFill>
          <a:ln w="25400">
            <a:solidFill>
              <a:srgbClr val="DAB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331720" lIns="228600" rIns="228600"/>
          <a:lstStyle/>
          <a:p>
            <a:pPr algn="ctr">
              <a:defRPr sz="2200" b="1">
                <a:solidFill>
                  <a:srgbClr val="FCDE80"/>
                </a:solidFill>
                <a:latin typeface="Dubai"/>
              </a:defRPr>
            </a:pPr>
            <a:r>
              <a:t>التحول الرقمي الشامل</a:t>
            </a:r>
          </a:p>
          <a:p>
            <a:pPr algn="r">
              <a:spcBef>
                <a:spcPts val="1200"/>
              </a:spcBef>
              <a:defRPr sz="1700">
                <a:solidFill>
                  <a:srgbClr val="FFFFFF"/>
                </a:solidFill>
                <a:latin typeface="Dubai"/>
              </a:defRPr>
            </a:pPr>
            <a:r>
              <a:t>بناء قاعدة بيانات موحدة للطلاب، الخدام، والإدارة لحماية السجلات عبر السنين.</a:t>
            </a:r>
          </a:p>
        </p:txBody>
      </p:sp>
      <p:sp>
        <p:nvSpPr>
          <p:cNvPr id="19" name="Donut 18"/>
          <p:cNvSpPr/>
          <p:nvPr/>
        </p:nvSpPr>
        <p:spPr>
          <a:xfrm>
            <a:off x="8869680" y="2011680"/>
            <a:ext cx="1737360" cy="1737360"/>
          </a:xfrm>
          <a:prstGeom prst="donut">
            <a:avLst/>
          </a:prstGeom>
          <a:solidFill>
            <a:srgbClr val="0A1838"/>
          </a:solidFill>
          <a:ln w="25400">
            <a:solidFill>
              <a:srgbClr val="DAB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_sanctu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2148840"/>
            <a:ext cx="1463040" cy="1463040"/>
          </a:xfrm>
          <a:prstGeom prst="rect">
            <a:avLst/>
          </a:prstGeom>
        </p:spPr>
      </p:pic>
      <p:sp>
        <p:nvSpPr>
          <p:cNvPr id="21" name="Oval 20"/>
          <p:cNvSpPr/>
          <p:nvPr/>
        </p:nvSpPr>
        <p:spPr>
          <a:xfrm>
            <a:off x="9464040" y="3474720"/>
            <a:ext cx="594360" cy="594360"/>
          </a:xfrm>
          <a:prstGeom prst="ellipse">
            <a:avLst/>
          </a:prstGeom>
          <a:solidFill>
            <a:srgbClr val="DAB23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50C1C"/>
                </a:solidFill>
                <a:latin typeface="Dubai"/>
              </a:defRPr>
            </a:pPr>
            <a:r>
              <a:t>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1783080"/>
            <a:ext cx="3413455" cy="4343400"/>
          </a:xfrm>
          <a:prstGeom prst="roundRect">
            <a:avLst/>
          </a:prstGeom>
          <a:solidFill>
            <a:srgbClr val="0F224C"/>
          </a:solidFill>
          <a:ln w="25400">
            <a:solidFill>
              <a:srgbClr val="00B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331720" lIns="228600" rIns="228600"/>
          <a:lstStyle/>
          <a:p>
            <a:pPr algn="ctr">
              <a:defRPr sz="2200" b="1">
                <a:solidFill>
                  <a:srgbClr val="FCDE80"/>
                </a:solidFill>
                <a:latin typeface="Dubai"/>
              </a:defRPr>
            </a:pPr>
            <a:r>
              <a:t>التعليم التفاعلي المستمر</a:t>
            </a:r>
          </a:p>
          <a:p>
            <a:pPr algn="r">
              <a:spcBef>
                <a:spcPts val="1200"/>
              </a:spcBef>
              <a:defRPr sz="1700">
                <a:solidFill>
                  <a:srgbClr val="FFFFFF"/>
                </a:solidFill>
                <a:latin typeface="Dubai"/>
              </a:defRPr>
            </a:pPr>
            <a:r>
              <a:t>إتاحة المناهج والمحاضرات الصوتية والامتحانات إلكترونياً بأسلوب شائق وعصري.</a:t>
            </a:r>
          </a:p>
        </p:txBody>
      </p:sp>
      <p:sp>
        <p:nvSpPr>
          <p:cNvPr id="23" name="Donut 22"/>
          <p:cNvSpPr/>
          <p:nvPr/>
        </p:nvSpPr>
        <p:spPr>
          <a:xfrm>
            <a:off x="5212080" y="2011680"/>
            <a:ext cx="1737360" cy="1737360"/>
          </a:xfrm>
          <a:prstGeom prst="donut">
            <a:avLst/>
          </a:prstGeom>
          <a:solidFill>
            <a:srgbClr val="0A1838"/>
          </a:solidFill>
          <a:ln w="25400">
            <a:solidFill>
              <a:srgbClr val="00B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_scrip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2148840"/>
            <a:ext cx="1463040" cy="1463040"/>
          </a:xfrm>
          <a:prstGeom prst="rect">
            <a:avLst/>
          </a:prstGeom>
        </p:spPr>
      </p:pic>
      <p:sp>
        <p:nvSpPr>
          <p:cNvPr id="25" name="Oval 24"/>
          <p:cNvSpPr/>
          <p:nvPr/>
        </p:nvSpPr>
        <p:spPr>
          <a:xfrm>
            <a:off x="5806440" y="3474720"/>
            <a:ext cx="594360" cy="594360"/>
          </a:xfrm>
          <a:prstGeom prst="ellipse">
            <a:avLst/>
          </a:prstGeom>
          <a:solidFill>
            <a:srgbClr val="00BEE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50C1C"/>
                </a:solidFill>
                <a:latin typeface="Dubai"/>
              </a:defRPr>
            </a:pPr>
            <a:r>
              <a:t>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1783080"/>
            <a:ext cx="3413455" cy="4343400"/>
          </a:xfrm>
          <a:prstGeom prst="roundRect">
            <a:avLst/>
          </a:prstGeom>
          <a:solidFill>
            <a:srgbClr val="0F224C"/>
          </a:solidFill>
          <a:ln w="25400">
            <a:solidFill>
              <a:srgbClr val="10C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331720" lIns="228600" rIns="228600"/>
          <a:lstStyle/>
          <a:p>
            <a:pPr algn="ctr">
              <a:defRPr sz="2200" b="1">
                <a:solidFill>
                  <a:srgbClr val="FCDE80"/>
                </a:solidFill>
                <a:latin typeface="Dubai"/>
              </a:defRPr>
            </a:pPr>
            <a:r>
              <a:t>توثيق التراث وماراثون الآيات</a:t>
            </a:r>
          </a:p>
          <a:p>
            <a:pPr algn="r">
              <a:spcBef>
                <a:spcPts val="1200"/>
              </a:spcBef>
              <a:defRPr sz="1700">
                <a:solidFill>
                  <a:srgbClr val="FFFFFF"/>
                </a:solidFill>
                <a:latin typeface="Dubai"/>
              </a:defRPr>
            </a:pPr>
            <a:r>
              <a:t>موسوعة إلكترونية للتفاسير الآبائية مع سباق تفاعلي لحفظ ودراسة الكتاب المقدس.</a:t>
            </a:r>
          </a:p>
        </p:txBody>
      </p:sp>
      <p:sp>
        <p:nvSpPr>
          <p:cNvPr id="27" name="Donut 26"/>
          <p:cNvSpPr/>
          <p:nvPr/>
        </p:nvSpPr>
        <p:spPr>
          <a:xfrm>
            <a:off x="1554480" y="2011680"/>
            <a:ext cx="1737360" cy="1737360"/>
          </a:xfrm>
          <a:prstGeom prst="donut">
            <a:avLst/>
          </a:prstGeom>
          <a:solidFill>
            <a:srgbClr val="0A1838"/>
          </a:solidFill>
          <a:ln w="25400">
            <a:solidFill>
              <a:srgbClr val="10C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_read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1640" y="2148840"/>
            <a:ext cx="1463040" cy="1463040"/>
          </a:xfrm>
          <a:prstGeom prst="rect">
            <a:avLst/>
          </a:prstGeom>
        </p:spPr>
      </p:pic>
      <p:sp>
        <p:nvSpPr>
          <p:cNvPr id="29" name="Oval 28"/>
          <p:cNvSpPr/>
          <p:nvPr/>
        </p:nvSpPr>
        <p:spPr>
          <a:xfrm>
            <a:off x="2148840" y="3474720"/>
            <a:ext cx="594360" cy="594360"/>
          </a:xfrm>
          <a:prstGeom prst="ellipse">
            <a:avLst/>
          </a:prstGeom>
          <a:solidFill>
            <a:srgbClr val="10C48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50C1C"/>
                </a:solidFill>
                <a:latin typeface="Duba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-1645920"/>
            <a:ext cx="5486400" cy="5486400"/>
          </a:xfrm>
          <a:prstGeom prst="ellipse">
            <a:avLst/>
          </a:prstGeom>
          <a:solidFill>
            <a:srgbClr val="0A1838"/>
          </a:solidFill>
          <a:ln w="25400">
            <a:solidFill>
              <a:srgbClr val="1A3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-914400" y="-914400"/>
            <a:ext cx="4754880" cy="4754880"/>
          </a:xfrm>
          <a:prstGeom prst="donu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3474720"/>
            <a:ext cx="5303520" cy="5303520"/>
          </a:xfrm>
          <a:prstGeom prst="ellipse">
            <a:avLst/>
          </a:prstGeom>
          <a:solidFill>
            <a:srgbClr val="0F224C"/>
          </a:solidFill>
          <a:ln w="25400">
            <a:solidFill>
              <a:srgbClr val="1A3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nut 5"/>
          <p:cNvSpPr/>
          <p:nvPr/>
        </p:nvSpPr>
        <p:spPr>
          <a:xfrm>
            <a:off x="9326880" y="4114800"/>
            <a:ext cx="4023360" cy="4023360"/>
          </a:xfrm>
          <a:prstGeom prst="donut">
            <a:avLst/>
          </a:prstGeom>
          <a:solidFill>
            <a:srgbClr val="DA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47120" y="1645920"/>
            <a:ext cx="365760" cy="365760"/>
          </a:xfrm>
          <a:prstGeom prst="ellipse">
            <a:avLst/>
          </a:prstGeom>
          <a:solidFill>
            <a:srgbClr val="00B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5303520"/>
            <a:ext cx="320040" cy="320040"/>
          </a:xfrm>
          <a:prstGeom prst="ellipse">
            <a:avLst/>
          </a:prstGeom>
          <a:solidFill>
            <a:srgbClr val="FC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589520" y="365760"/>
            <a:ext cx="3840480" cy="411480"/>
          </a:xfrm>
          <a:prstGeom prst="roundRect">
            <a:avLst/>
          </a:prstGeom>
          <a:solidFill>
            <a:srgbClr val="0F224C"/>
          </a:solidFill>
          <a:ln w="19050">
            <a:solidFill>
              <a:srgbClr val="DAB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CDE80"/>
                </a:solidFill>
                <a:latin typeface="Dubai"/>
              </a:defRPr>
            </a:pPr>
            <a:r>
              <a:t>✨ الوظائف والإمكانات الأساسية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6858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200" b="1">
                <a:solidFill>
                  <a:srgbClr val="FFFFFF"/>
                </a:solidFill>
                <a:latin typeface="Dubai"/>
              </a:defRPr>
            </a:pPr>
            <a:r>
              <a:t>المحاور والحلول التقنية الذكية للمنظومة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92608"/>
            <a:ext cx="1051560" cy="1051560"/>
          </a:xfrm>
          <a:prstGeom prst="ellipse">
            <a:avLst/>
          </a:prstGeom>
          <a:solidFill>
            <a:srgbClr val="0F224C"/>
          </a:solidFill>
          <a:ln w="19050">
            <a:solidFill>
              <a:srgbClr val="DAB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56616"/>
            <a:ext cx="914400" cy="9144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31520" y="1536192"/>
            <a:ext cx="10728655" cy="27432"/>
          </a:xfrm>
          <a:prstGeom prst="rect">
            <a:avLst/>
          </a:prstGeom>
          <a:solidFill>
            <a:srgbClr val="DAB23C"/>
          </a:solidFill>
          <a:ln>
            <a:solidFill>
              <a:srgbClr val="DAB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0" y="1517904"/>
            <a:ext cx="4144975" cy="54864"/>
          </a:xfrm>
          <a:prstGeom prst="rect">
            <a:avLst/>
          </a:prstGeom>
          <a:solidFill>
            <a:srgbClr val="00BEE4"/>
          </a:solidFill>
          <a:ln>
            <a:solidFill>
              <a:srgbClr val="00B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1A3876"/>
          </a:solidFill>
          <a:ln>
            <a:solidFill>
              <a:srgbClr val="1A3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292840" y="6492240"/>
            <a:ext cx="146304" cy="146304"/>
          </a:xfrm>
          <a:prstGeom prst="ellipse">
            <a:avLst/>
          </a:prstGeom>
          <a:solidFill>
            <a:srgbClr val="10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ECDE1"/>
                </a:solidFill>
                <a:latin typeface="Dubai"/>
              </a:defRPr>
            </a:pPr>
            <a:r>
              <a:t>مدرسة الكاروز للكتاب المقدس • كنيسة مارمرقس الرسول بالمنشية — شبرا الخيمة  |  elkaroozschool1.vercel.app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783080"/>
            <a:ext cx="5242255" cy="2057400"/>
          </a:xfrm>
          <a:prstGeom prst="roundRect">
            <a:avLst/>
          </a:prstGeom>
          <a:solidFill>
            <a:srgbClr val="0F224C"/>
          </a:solidFill>
          <a:ln w="19050">
            <a:solidFill>
              <a:srgbClr val="00B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rIns="1234440" lIns="274320"/>
          <a:lstStyle/>
          <a:p>
            <a:pPr algn="r">
              <a:defRPr sz="2100" b="1">
                <a:solidFill>
                  <a:srgbClr val="FCDE80"/>
                </a:solidFill>
                <a:latin typeface="Dubai"/>
              </a:defRPr>
            </a:pPr>
            <a:r>
              <a:t>إدارة الفرق والصفوف (١، ٢، ٣)</a:t>
            </a:r>
          </a:p>
          <a:p>
            <a:pPr algn="r">
              <a:spcBef>
                <a:spcPts val="800"/>
              </a:spcBef>
              <a:defRPr sz="1600">
                <a:solidFill>
                  <a:srgbClr val="FFFFFF"/>
                </a:solidFill>
                <a:latin typeface="Dubai"/>
              </a:defRPr>
            </a:pPr>
            <a:r>
              <a:t>ملف أكاديمي متكامل لكل طالب وسجل تاريخي دقيق للمتابعة والرعاية الفردية.</a:t>
            </a:r>
          </a:p>
        </p:txBody>
      </p:sp>
      <p:pic>
        <p:nvPicPr>
          <p:cNvPr id="19" name="Picture 18" descr="icon_curricul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2011680"/>
            <a:ext cx="868680" cy="868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731520" y="1783080"/>
            <a:ext cx="5242255" cy="2057400"/>
          </a:xfrm>
          <a:prstGeom prst="roundRect">
            <a:avLst/>
          </a:prstGeom>
          <a:solidFill>
            <a:srgbClr val="0F224C"/>
          </a:solidFill>
          <a:ln w="19050">
            <a:solidFill>
              <a:srgbClr val="DAB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rIns="1234440" lIns="274320"/>
          <a:lstStyle/>
          <a:p>
            <a:pPr algn="r">
              <a:defRPr sz="2100" b="1">
                <a:solidFill>
                  <a:srgbClr val="FCDE80"/>
                </a:solidFill>
                <a:latin typeface="Dubai"/>
              </a:defRPr>
            </a:pPr>
            <a:r>
              <a:t>نظام الحضور الذكي وسرعة الرصد</a:t>
            </a:r>
          </a:p>
          <a:p>
            <a:pPr algn="r">
              <a:spcBef>
                <a:spcPts val="800"/>
              </a:spcBef>
              <a:defRPr sz="1600">
                <a:solidFill>
                  <a:srgbClr val="FFFFFF"/>
                </a:solidFill>
                <a:latin typeface="Dubai"/>
              </a:defRPr>
            </a:pPr>
            <a:r>
              <a:t>تسجيل الحضور في ثوانٍ مع دعم مسح الرمز السريع وإحصائيات غياب تفصيلية ومباشرة.</a:t>
            </a:r>
          </a:p>
        </p:txBody>
      </p:sp>
      <p:pic>
        <p:nvPicPr>
          <p:cNvPr id="21" name="Picture 20" descr="icon_attend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011680"/>
            <a:ext cx="868680" cy="86868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217920" y="4023360"/>
            <a:ext cx="5242255" cy="2057400"/>
          </a:xfrm>
          <a:prstGeom prst="roundRect">
            <a:avLst/>
          </a:prstGeom>
          <a:solidFill>
            <a:srgbClr val="0F224C"/>
          </a:solidFill>
          <a:ln w="19050">
            <a:solidFill>
              <a:srgbClr val="10C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rIns="1234440" lIns="274320"/>
          <a:lstStyle/>
          <a:p>
            <a:pPr algn="r">
              <a:defRPr sz="2100" b="1">
                <a:solidFill>
                  <a:srgbClr val="FCDE80"/>
                </a:solidFill>
                <a:latin typeface="Dubai"/>
              </a:defRPr>
            </a:pPr>
            <a:r>
              <a:t>ماراثون الآيات والتنافس الروحي</a:t>
            </a:r>
          </a:p>
          <a:p>
            <a:pPr algn="r">
              <a:spcBef>
                <a:spcPts val="800"/>
              </a:spcBef>
              <a:defRPr sz="1600">
                <a:solidFill>
                  <a:srgbClr val="FFFFFF"/>
                </a:solidFill>
                <a:latin typeface="Dubai"/>
              </a:defRPr>
            </a:pPr>
            <a:r>
              <a:t>لوحة تنافسية لتسجيل ومتابعة حفظ الشواهد والآيات ورصد الدرجات والترتيب العام.</a:t>
            </a:r>
          </a:p>
        </p:txBody>
      </p:sp>
      <p:pic>
        <p:nvPicPr>
          <p:cNvPr id="23" name="Picture 22" descr="icon_marath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8440" y="4251960"/>
            <a:ext cx="868680" cy="86868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731520" y="4023360"/>
            <a:ext cx="5242255" cy="2057400"/>
          </a:xfrm>
          <a:prstGeom prst="roundRect">
            <a:avLst/>
          </a:prstGeom>
          <a:solidFill>
            <a:srgbClr val="0F224C"/>
          </a:solidFill>
          <a:ln w="19050">
            <a:solidFill>
              <a:srgbClr val="FC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rIns="1234440" lIns="274320"/>
          <a:lstStyle/>
          <a:p>
            <a:pPr algn="r">
              <a:defRPr sz="2100" b="1">
                <a:solidFill>
                  <a:srgbClr val="FCDE80"/>
                </a:solidFill>
                <a:latin typeface="Dubai"/>
              </a:defRPr>
            </a:pPr>
            <a:r>
              <a:t>الأمان والنسخ الاحتياطي السحابي</a:t>
            </a:r>
          </a:p>
          <a:p>
            <a:pPr algn="r">
              <a:spcBef>
                <a:spcPts val="800"/>
              </a:spcBef>
              <a:defRPr sz="1600">
                <a:solidFill>
                  <a:srgbClr val="FFFFFF"/>
                </a:solidFill>
                <a:latin typeface="Dubai"/>
              </a:defRPr>
            </a:pPr>
            <a:r>
              <a:t>بنية سحابية مشددة تعزل الصلاحيات وتحفظ المحاضرات والتسجيلات من أي فقدان.</a:t>
            </a:r>
          </a:p>
        </p:txBody>
      </p:sp>
      <p:pic>
        <p:nvPicPr>
          <p:cNvPr id="25" name="Picture 24" descr="icon_secur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425196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-1645920"/>
            <a:ext cx="5486400" cy="5486400"/>
          </a:xfrm>
          <a:prstGeom prst="ellipse">
            <a:avLst/>
          </a:prstGeom>
          <a:solidFill>
            <a:srgbClr val="0A1838"/>
          </a:solidFill>
          <a:ln w="25400">
            <a:solidFill>
              <a:srgbClr val="1A3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-914400" y="-914400"/>
            <a:ext cx="4754880" cy="4754880"/>
          </a:xfrm>
          <a:prstGeom prst="donut">
            <a:avLst/>
          </a:prstGeom>
          <a:solidFill>
            <a:srgbClr val="DA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3474720"/>
            <a:ext cx="5303520" cy="5303520"/>
          </a:xfrm>
          <a:prstGeom prst="ellipse">
            <a:avLst/>
          </a:prstGeom>
          <a:solidFill>
            <a:srgbClr val="0F224C"/>
          </a:solidFill>
          <a:ln w="25400">
            <a:solidFill>
              <a:srgbClr val="1A3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nut 5"/>
          <p:cNvSpPr/>
          <p:nvPr/>
        </p:nvSpPr>
        <p:spPr>
          <a:xfrm>
            <a:off x="9326880" y="4114800"/>
            <a:ext cx="4023360" cy="4023360"/>
          </a:xfrm>
          <a:prstGeom prst="donut">
            <a:avLst/>
          </a:prstGeom>
          <a:solidFill>
            <a:srgbClr val="DA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47120" y="1645920"/>
            <a:ext cx="365760" cy="365760"/>
          </a:xfrm>
          <a:prstGeom prst="ellipse">
            <a:avLst/>
          </a:prstGeom>
          <a:solidFill>
            <a:srgbClr val="00B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5303520"/>
            <a:ext cx="320040" cy="320040"/>
          </a:xfrm>
          <a:prstGeom prst="ellipse">
            <a:avLst/>
          </a:prstGeom>
          <a:solidFill>
            <a:srgbClr val="FC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589520" y="365760"/>
            <a:ext cx="3840480" cy="411480"/>
          </a:xfrm>
          <a:prstGeom prst="roundRect">
            <a:avLst/>
          </a:prstGeom>
          <a:solidFill>
            <a:srgbClr val="0F224C"/>
          </a:solidFill>
          <a:ln w="19050">
            <a:solidFill>
              <a:srgbClr val="DAB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CDE80"/>
                </a:solidFill>
                <a:latin typeface="Dubai"/>
              </a:defRPr>
            </a:pPr>
            <a:r>
              <a:t>✨ المحتوى العلمي والروحي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6858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200" b="1">
                <a:solidFill>
                  <a:srgbClr val="FFFFFF"/>
                </a:solidFill>
                <a:latin typeface="Dubai"/>
              </a:defRPr>
            </a:pPr>
            <a:r>
              <a:t>موسوعة الكتاب المقدس والمكتبة الرقمية الموثقة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92608"/>
            <a:ext cx="1051560" cy="1051560"/>
          </a:xfrm>
          <a:prstGeom prst="ellipse">
            <a:avLst/>
          </a:prstGeom>
          <a:solidFill>
            <a:srgbClr val="0F224C"/>
          </a:solidFill>
          <a:ln w="19050">
            <a:solidFill>
              <a:srgbClr val="DAB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56616"/>
            <a:ext cx="914400" cy="9144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31520" y="1536192"/>
            <a:ext cx="10728655" cy="27432"/>
          </a:xfrm>
          <a:prstGeom prst="rect">
            <a:avLst/>
          </a:prstGeom>
          <a:solidFill>
            <a:srgbClr val="DAB23C"/>
          </a:solidFill>
          <a:ln>
            <a:solidFill>
              <a:srgbClr val="DAB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0" y="1517904"/>
            <a:ext cx="4144975" cy="54864"/>
          </a:xfrm>
          <a:prstGeom prst="rect">
            <a:avLst/>
          </a:prstGeom>
          <a:solidFill>
            <a:srgbClr val="00BEE4"/>
          </a:solidFill>
          <a:ln>
            <a:solidFill>
              <a:srgbClr val="00B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1A3876"/>
          </a:solidFill>
          <a:ln>
            <a:solidFill>
              <a:srgbClr val="1A3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292840" y="6492240"/>
            <a:ext cx="146304" cy="146304"/>
          </a:xfrm>
          <a:prstGeom prst="ellipse">
            <a:avLst/>
          </a:prstGeom>
          <a:solidFill>
            <a:srgbClr val="10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ECDE1"/>
                </a:solidFill>
                <a:latin typeface="Dubai"/>
              </a:defRPr>
            </a:pPr>
            <a:r>
              <a:t>مدرسة الكاروز للكتاب المقدس • كنيسة مارمرقس الرسول بالمنشية — شبرا الخيمة  |  elkaroozschool1.vercel.app</a:t>
            </a:r>
          </a:p>
        </p:txBody>
      </p:sp>
      <p:pic>
        <p:nvPicPr>
          <p:cNvPr id="18" name="Picture 17" descr="mockup_desk_bi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83080"/>
            <a:ext cx="5120640" cy="3200400"/>
          </a:xfrm>
          <a:prstGeom prst="rect">
            <a:avLst/>
          </a:prstGeom>
        </p:spPr>
      </p:pic>
      <p:pic>
        <p:nvPicPr>
          <p:cNvPr id="19" name="Picture 18" descr="c_atl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343400"/>
            <a:ext cx="1828800" cy="182880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2834640" y="4892040"/>
            <a:ext cx="3017520" cy="914400"/>
          </a:xfrm>
          <a:prstGeom prst="roundRect">
            <a:avLst/>
          </a:prstGeom>
          <a:solidFill>
            <a:srgbClr val="8E143A"/>
          </a:solidFill>
          <a:ln w="25400">
            <a:solidFill>
              <a:srgbClr val="DAB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Dubai"/>
              </a:defRPr>
            </a:pPr>
            <a:r>
              <a:t>🏛️ شاشة حية من المنصة</a:t>
            </a:r>
            <a:br/>
            <a:r>
              <a:t>لتصفح تفاسير وخرائط الآباء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1783080"/>
            <a:ext cx="5425135" cy="4343400"/>
          </a:xfrm>
          <a:prstGeom prst="roundRect">
            <a:avLst/>
          </a:prstGeom>
          <a:solidFill>
            <a:srgbClr val="0F224C"/>
          </a:solidFill>
          <a:ln w="25400">
            <a:solidFill>
              <a:srgbClr val="DAB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 rIns="365760" lIns="365760"/>
          <a:lstStyle/>
          <a:p>
            <a:pPr algn="r">
              <a:defRPr sz="2300" b="1">
                <a:solidFill>
                  <a:srgbClr val="FCDE80"/>
                </a:solidFill>
                <a:latin typeface="Dubai"/>
              </a:defRPr>
            </a:pPr>
            <a:r>
              <a:t>موسوعة إلكترونية في متناول كل طالب</a:t>
            </a:r>
          </a:p>
          <a:p>
            <a:pPr algn="r">
              <a:spcBef>
                <a:spcPts val="1200"/>
              </a:spcBef>
              <a:defRPr sz="1800" b="1">
                <a:solidFill>
                  <a:srgbClr val="FFFFFF"/>
                </a:solidFill>
                <a:latin typeface="Dubai"/>
              </a:defRPr>
            </a:pPr>
            <a:r>
              <a:t>🔸 فهرس سريع لجميع أسفار العهدين</a:t>
            </a:r>
          </a:p>
          <a:p>
            <a:pPr algn="r">
              <a:spcBef>
                <a:spcPts val="200"/>
              </a:spcBef>
              <a:defRPr sz="1500">
                <a:solidFill>
                  <a:srgbClr val="BECDE1"/>
                </a:solidFill>
                <a:latin typeface="Dubai"/>
              </a:defRPr>
            </a:pPr>
            <a:r>
              <a:t>بحث فوري ودقيق بين الإصحاحات والشواهد بنقرة واحدة.</a:t>
            </a:r>
          </a:p>
          <a:p>
            <a:pPr algn="r">
              <a:spcBef>
                <a:spcPts val="1200"/>
              </a:spcBef>
              <a:defRPr sz="1800" b="1">
                <a:solidFill>
                  <a:srgbClr val="FFFFFF"/>
                </a:solidFill>
                <a:latin typeface="Dubai"/>
              </a:defRPr>
            </a:pPr>
            <a:r>
              <a:t>🔸 تفاسير الآباء الأرثوذكسية المعتمدة</a:t>
            </a:r>
          </a:p>
          <a:p>
            <a:pPr algn="r">
              <a:spcBef>
                <a:spcPts val="200"/>
              </a:spcBef>
              <a:defRPr sz="1500">
                <a:solidFill>
                  <a:srgbClr val="BECDE1"/>
                </a:solidFill>
                <a:latin typeface="Dubai"/>
              </a:defRPr>
            </a:pPr>
            <a:r>
              <a:t>ربط الآيات مباشرة بشروحات القمص تادرس يعقوب ملطي وأنطونيوس فكري.</a:t>
            </a:r>
          </a:p>
          <a:p>
            <a:pPr algn="r">
              <a:spcBef>
                <a:spcPts val="1200"/>
              </a:spcBef>
              <a:defRPr sz="1800" b="1">
                <a:solidFill>
                  <a:srgbClr val="FFFFFF"/>
                </a:solidFill>
                <a:latin typeface="Dubai"/>
              </a:defRPr>
            </a:pPr>
            <a:r>
              <a:t>🔸 الأطلس والخرائط الجغرافية</a:t>
            </a:r>
          </a:p>
          <a:p>
            <a:pPr algn="r">
              <a:spcBef>
                <a:spcPts val="200"/>
              </a:spcBef>
              <a:defRPr sz="1500">
                <a:solidFill>
                  <a:srgbClr val="BECDE1"/>
                </a:solidFill>
                <a:latin typeface="Dubai"/>
              </a:defRPr>
            </a:pPr>
            <a:r>
              <a:t>خرائط تفاعلية لمسارات الرسل والأنبياء لفهم أعمق للنصوص.</a:t>
            </a:r>
          </a:p>
          <a:p>
            <a:pPr algn="r">
              <a:spcBef>
                <a:spcPts val="1200"/>
              </a:spcBef>
              <a:defRPr sz="1800" b="1">
                <a:solidFill>
                  <a:srgbClr val="FFFFFF"/>
                </a:solidFill>
                <a:latin typeface="Dubai"/>
              </a:defRPr>
            </a:pPr>
            <a:r>
              <a:t>🔸 مكتبة الصوتيات والترانيم (MP3)</a:t>
            </a:r>
          </a:p>
          <a:p>
            <a:pPr algn="r">
              <a:spcBef>
                <a:spcPts val="200"/>
              </a:spcBef>
              <a:defRPr sz="1500">
                <a:solidFill>
                  <a:srgbClr val="BECDE1"/>
                </a:solidFill>
                <a:latin typeface="Dubai"/>
              </a:defRPr>
            </a:pPr>
            <a:r>
              <a:t>مشغل صوتيات مدمج للاستماع للمحاضرات والتأملات أثناء التنقل.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-1645920"/>
            <a:ext cx="5486400" cy="5486400"/>
          </a:xfrm>
          <a:prstGeom prst="ellipse">
            <a:avLst/>
          </a:prstGeom>
          <a:solidFill>
            <a:srgbClr val="0A1838"/>
          </a:solidFill>
          <a:ln w="25400">
            <a:solidFill>
              <a:srgbClr val="1A3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-914400" y="-914400"/>
            <a:ext cx="4754880" cy="4754880"/>
          </a:xfrm>
          <a:prstGeom prst="donut">
            <a:avLst/>
          </a:prstGeom>
          <a:solidFill>
            <a:srgbClr val="00B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3474720"/>
            <a:ext cx="5303520" cy="5303520"/>
          </a:xfrm>
          <a:prstGeom prst="ellipse">
            <a:avLst/>
          </a:prstGeom>
          <a:solidFill>
            <a:srgbClr val="0F224C"/>
          </a:solidFill>
          <a:ln w="25400">
            <a:solidFill>
              <a:srgbClr val="1A3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nut 5"/>
          <p:cNvSpPr/>
          <p:nvPr/>
        </p:nvSpPr>
        <p:spPr>
          <a:xfrm>
            <a:off x="9326880" y="4114800"/>
            <a:ext cx="4023360" cy="4023360"/>
          </a:xfrm>
          <a:prstGeom prst="donut">
            <a:avLst/>
          </a:prstGeom>
          <a:solidFill>
            <a:srgbClr val="DA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47120" y="1645920"/>
            <a:ext cx="365760" cy="365760"/>
          </a:xfrm>
          <a:prstGeom prst="ellipse">
            <a:avLst/>
          </a:prstGeom>
          <a:solidFill>
            <a:srgbClr val="00B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5303520"/>
            <a:ext cx="320040" cy="320040"/>
          </a:xfrm>
          <a:prstGeom prst="ellipse">
            <a:avLst/>
          </a:prstGeom>
          <a:solidFill>
            <a:srgbClr val="FC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589520" y="365760"/>
            <a:ext cx="3840480" cy="411480"/>
          </a:xfrm>
          <a:prstGeom prst="roundRect">
            <a:avLst/>
          </a:prstGeom>
          <a:solidFill>
            <a:srgbClr val="0F224C"/>
          </a:solidFill>
          <a:ln w="19050">
            <a:solidFill>
              <a:srgbClr val="DAB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CDE80"/>
                </a:solidFill>
                <a:latin typeface="Dubai"/>
              </a:defRPr>
            </a:pPr>
            <a:r>
              <a:t>✨ تجربة استخدام عالمية (PWA)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6858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200" b="1">
                <a:solidFill>
                  <a:srgbClr val="FFFFFF"/>
                </a:solidFill>
                <a:latin typeface="Dubai"/>
              </a:defRPr>
            </a:pPr>
            <a:r>
              <a:t>يعمل بسلاسة وتجاوب على جميع الشاشات والأجهزة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92608"/>
            <a:ext cx="1051560" cy="1051560"/>
          </a:xfrm>
          <a:prstGeom prst="ellipse">
            <a:avLst/>
          </a:prstGeom>
          <a:solidFill>
            <a:srgbClr val="0F224C"/>
          </a:solidFill>
          <a:ln w="19050">
            <a:solidFill>
              <a:srgbClr val="DAB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56616"/>
            <a:ext cx="914400" cy="9144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31520" y="1536192"/>
            <a:ext cx="10728655" cy="27432"/>
          </a:xfrm>
          <a:prstGeom prst="rect">
            <a:avLst/>
          </a:prstGeom>
          <a:solidFill>
            <a:srgbClr val="DAB23C"/>
          </a:solidFill>
          <a:ln>
            <a:solidFill>
              <a:srgbClr val="DAB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0" y="1517904"/>
            <a:ext cx="4144975" cy="54864"/>
          </a:xfrm>
          <a:prstGeom prst="rect">
            <a:avLst/>
          </a:prstGeom>
          <a:solidFill>
            <a:srgbClr val="00BEE4"/>
          </a:solidFill>
          <a:ln>
            <a:solidFill>
              <a:srgbClr val="00B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1A3876"/>
          </a:solidFill>
          <a:ln>
            <a:solidFill>
              <a:srgbClr val="1A3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292840" y="6492240"/>
            <a:ext cx="146304" cy="146304"/>
          </a:xfrm>
          <a:prstGeom prst="ellipse">
            <a:avLst/>
          </a:prstGeom>
          <a:solidFill>
            <a:srgbClr val="10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ECDE1"/>
                </a:solidFill>
                <a:latin typeface="Dubai"/>
              </a:defRPr>
            </a:pPr>
            <a:r>
              <a:t>مدرسة الكاروز للكتاب المقدس • كنيسة مارمرقس الرسول بالمنشية — شبرا الخيمة  |  elkaroozschool1.vercel.app</a:t>
            </a:r>
          </a:p>
        </p:txBody>
      </p:sp>
      <p:pic>
        <p:nvPicPr>
          <p:cNvPr id="18" name="Picture 17" descr="mockup_desk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83080"/>
            <a:ext cx="5120640" cy="3200400"/>
          </a:xfrm>
          <a:prstGeom prst="rect">
            <a:avLst/>
          </a:prstGeom>
        </p:spPr>
      </p:pic>
      <p:pic>
        <p:nvPicPr>
          <p:cNvPr id="19" name="Picture 18" descr="mockup_phone_bi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2194560"/>
            <a:ext cx="2103120" cy="420624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731520" y="5120640"/>
            <a:ext cx="3108960" cy="1005840"/>
          </a:xfrm>
          <a:prstGeom prst="roundRect">
            <a:avLst/>
          </a:prstGeom>
          <a:solidFill>
            <a:srgbClr val="0F224C"/>
          </a:solidFill>
          <a:ln w="25400">
            <a:solidFill>
              <a:srgbClr val="00B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914400" tIns="137160"/>
          <a:lstStyle/>
          <a:p>
            <a:pPr algn="r">
              <a:defRPr sz="1600" b="1">
                <a:solidFill>
                  <a:srgbClr val="00BEE4"/>
                </a:solidFill>
                <a:latin typeface="Dubai"/>
              </a:defRPr>
            </a:pPr>
            <a:r>
              <a:t>تجاوب كامل ١٠٠٪</a:t>
            </a:r>
          </a:p>
          <a:p>
            <a:pPr algn="r">
              <a:defRPr sz="1300">
                <a:solidFill>
                  <a:srgbClr val="FFFFFF"/>
                </a:solidFill>
                <a:latin typeface="Dubai"/>
              </a:defRPr>
            </a:pPr>
            <a:r>
              <a:t>كمبيوتر • تابلت • موبايل</a:t>
            </a:r>
          </a:p>
        </p:txBody>
      </p:sp>
      <p:pic>
        <p:nvPicPr>
          <p:cNvPr id="21" name="Picture 20" descr="icon_responsi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520" y="5212080"/>
            <a:ext cx="822960" cy="82296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400800" y="1783080"/>
            <a:ext cx="5059375" cy="4343400"/>
          </a:xfrm>
          <a:prstGeom prst="roundRect">
            <a:avLst/>
          </a:prstGeom>
          <a:solidFill>
            <a:srgbClr val="0F224C"/>
          </a:solidFill>
          <a:ln w="25400">
            <a:solidFill>
              <a:srgbClr val="DAB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 rIns="365760" lIns="365760"/>
          <a:lstStyle/>
          <a:p>
            <a:pPr algn="r">
              <a:defRPr sz="2300" b="1">
                <a:solidFill>
                  <a:srgbClr val="FCDE80"/>
                </a:solidFill>
                <a:latin typeface="Dubai"/>
              </a:defRPr>
            </a:pPr>
            <a:r>
              <a:t>متاح لكل طالب وخادم في أي وقت</a:t>
            </a:r>
          </a:p>
          <a:p>
            <a:pPr algn="r">
              <a:spcBef>
                <a:spcPts val="1100"/>
              </a:spcBef>
              <a:defRPr sz="1700" b="1">
                <a:solidFill>
                  <a:srgbClr val="FFFFFF"/>
                </a:solidFill>
                <a:latin typeface="Dubai"/>
              </a:defRPr>
            </a:pPr>
            <a:r>
              <a:t>📱 تطبيق ويب تقدمي (PWA) فوري</a:t>
            </a:r>
          </a:p>
          <a:p>
            <a:pPr algn="r">
              <a:spcBef>
                <a:spcPts val="200"/>
              </a:spcBef>
              <a:defRPr sz="1400">
                <a:solidFill>
                  <a:srgbClr val="BECDE1"/>
                </a:solidFill>
                <a:latin typeface="Dubai"/>
              </a:defRPr>
            </a:pPr>
            <a:r>
              <a:t>تثبيت بنقرة واحدة على الشاشة الرئيسية للهاتف بدون الحاجة لمتاجر التطبيقات وبمساحة خفيفة.</a:t>
            </a:r>
          </a:p>
          <a:p>
            <a:pPr algn="r">
              <a:spcBef>
                <a:spcPts val="1100"/>
              </a:spcBef>
              <a:defRPr sz="1700" b="1">
                <a:solidFill>
                  <a:srgbClr val="FFFFFF"/>
                </a:solidFill>
                <a:latin typeface="Dubai"/>
              </a:defRPr>
            </a:pPr>
            <a:r>
              <a:t>📱 واجهة عربية أصيلة (RTL)</a:t>
            </a:r>
          </a:p>
          <a:p>
            <a:pPr algn="r">
              <a:spcBef>
                <a:spcPts val="200"/>
              </a:spcBef>
              <a:defRPr sz="1400">
                <a:solidFill>
                  <a:srgbClr val="BECDE1"/>
                </a:solidFill>
                <a:latin typeface="Dubai"/>
              </a:defRPr>
            </a:pPr>
            <a:r>
              <a:t>مبنية بهندسة برمجية تدعم اللغة العربية طبيعياً، مع خط كنسي مريح للعين في القراءة الطويلة.</a:t>
            </a:r>
          </a:p>
          <a:p>
            <a:pPr algn="r">
              <a:spcBef>
                <a:spcPts val="1100"/>
              </a:spcBef>
              <a:defRPr sz="1700" b="1">
                <a:solidFill>
                  <a:srgbClr val="FFFFFF"/>
                </a:solidFill>
                <a:latin typeface="Dubai"/>
              </a:defRPr>
            </a:pPr>
            <a:r>
              <a:t>📱 ٣ مظاهر بصرية فاخرة</a:t>
            </a:r>
          </a:p>
          <a:p>
            <a:pPr algn="r">
              <a:spcBef>
                <a:spcPts val="200"/>
              </a:spcBef>
              <a:defRPr sz="1400">
                <a:solidFill>
                  <a:srgbClr val="BECDE1"/>
                </a:solidFill>
                <a:latin typeface="Dubai"/>
              </a:defRPr>
            </a:pPr>
            <a:r>
              <a:t>دعم كامل للمظهر النهاري، الليلي المريح، والمظهر الملكي القبطي (Luxury Gold &amp; Navy).</a:t>
            </a:r>
          </a:p>
          <a:p>
            <a:pPr algn="r">
              <a:spcBef>
                <a:spcPts val="1100"/>
              </a:spcBef>
              <a:defRPr sz="1700" b="1">
                <a:solidFill>
                  <a:srgbClr val="FFFFFF"/>
                </a:solidFill>
                <a:latin typeface="Dubai"/>
              </a:defRPr>
            </a:pPr>
            <a:r>
              <a:t>📱 سرعة فائقة وأداء فوري</a:t>
            </a:r>
          </a:p>
          <a:p>
            <a:pPr algn="r">
              <a:spcBef>
                <a:spcPts val="200"/>
              </a:spcBef>
              <a:defRPr sz="1400">
                <a:solidFill>
                  <a:srgbClr val="BECDE1"/>
                </a:solidFill>
                <a:latin typeface="Dubai"/>
              </a:defRPr>
            </a:pPr>
            <a:r>
              <a:t>Next.js 14 وتقنيات السحابة الذكية تضمن تصفحاً فورياً حتى في ظل ضعف شبكة الإنترنت.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-1645920"/>
            <a:ext cx="5486400" cy="5486400"/>
          </a:xfrm>
          <a:prstGeom prst="ellipse">
            <a:avLst/>
          </a:prstGeom>
          <a:solidFill>
            <a:srgbClr val="0A1838"/>
          </a:solidFill>
          <a:ln w="25400">
            <a:solidFill>
              <a:srgbClr val="1A3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-914400" y="-914400"/>
            <a:ext cx="4754880" cy="4754880"/>
          </a:xfrm>
          <a:prstGeom prst="donut">
            <a:avLst/>
          </a:prstGeom>
          <a:solidFill>
            <a:srgbClr val="10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3474720"/>
            <a:ext cx="5303520" cy="5303520"/>
          </a:xfrm>
          <a:prstGeom prst="ellipse">
            <a:avLst/>
          </a:prstGeom>
          <a:solidFill>
            <a:srgbClr val="0F224C"/>
          </a:solidFill>
          <a:ln w="25400">
            <a:solidFill>
              <a:srgbClr val="1A3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nut 5"/>
          <p:cNvSpPr/>
          <p:nvPr/>
        </p:nvSpPr>
        <p:spPr>
          <a:xfrm>
            <a:off x="9326880" y="4114800"/>
            <a:ext cx="4023360" cy="4023360"/>
          </a:xfrm>
          <a:prstGeom prst="donut">
            <a:avLst/>
          </a:prstGeom>
          <a:solidFill>
            <a:srgbClr val="DA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47120" y="1645920"/>
            <a:ext cx="365760" cy="365760"/>
          </a:xfrm>
          <a:prstGeom prst="ellipse">
            <a:avLst/>
          </a:prstGeom>
          <a:solidFill>
            <a:srgbClr val="00B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5303520"/>
            <a:ext cx="320040" cy="320040"/>
          </a:xfrm>
          <a:prstGeom prst="ellipse">
            <a:avLst/>
          </a:prstGeom>
          <a:solidFill>
            <a:srgbClr val="FC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589520" y="365760"/>
            <a:ext cx="3840480" cy="411480"/>
          </a:xfrm>
          <a:prstGeom prst="roundRect">
            <a:avLst/>
          </a:prstGeom>
          <a:solidFill>
            <a:srgbClr val="0F224C"/>
          </a:solidFill>
          <a:ln w="19050">
            <a:solidFill>
              <a:srgbClr val="DAB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CDE80"/>
                </a:solidFill>
                <a:latin typeface="Dubai"/>
              </a:defRPr>
            </a:pPr>
            <a:r>
              <a:t>✨ بنية تحتية صلبة ومستقرة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6858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200" b="1">
                <a:solidFill>
                  <a:srgbClr val="FFFFFF"/>
                </a:solidFill>
                <a:latin typeface="Dubai"/>
              </a:defRPr>
            </a:pPr>
            <a:r>
              <a:t>الأمان، الخصوصية، والموثوقية التقنية المشددة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92608"/>
            <a:ext cx="1051560" cy="1051560"/>
          </a:xfrm>
          <a:prstGeom prst="ellipse">
            <a:avLst/>
          </a:prstGeom>
          <a:solidFill>
            <a:srgbClr val="0F224C"/>
          </a:solidFill>
          <a:ln w="19050">
            <a:solidFill>
              <a:srgbClr val="DAB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56616"/>
            <a:ext cx="914400" cy="9144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31520" y="1536192"/>
            <a:ext cx="10728655" cy="27432"/>
          </a:xfrm>
          <a:prstGeom prst="rect">
            <a:avLst/>
          </a:prstGeom>
          <a:solidFill>
            <a:srgbClr val="DAB23C"/>
          </a:solidFill>
          <a:ln>
            <a:solidFill>
              <a:srgbClr val="DAB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0" y="1517904"/>
            <a:ext cx="4144975" cy="54864"/>
          </a:xfrm>
          <a:prstGeom prst="rect">
            <a:avLst/>
          </a:prstGeom>
          <a:solidFill>
            <a:srgbClr val="00BEE4"/>
          </a:solidFill>
          <a:ln>
            <a:solidFill>
              <a:srgbClr val="00B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1A3876"/>
          </a:solidFill>
          <a:ln>
            <a:solidFill>
              <a:srgbClr val="1A3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292840" y="6492240"/>
            <a:ext cx="146304" cy="146304"/>
          </a:xfrm>
          <a:prstGeom prst="ellipse">
            <a:avLst/>
          </a:prstGeom>
          <a:solidFill>
            <a:srgbClr val="10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ECDE1"/>
                </a:solidFill>
                <a:latin typeface="Dubai"/>
              </a:defRPr>
            </a:pPr>
            <a:r>
              <a:t>مدرسة الكاروز للكتاب المقدس • كنيسة مارمرقس الرسول بالمنشية — شبرا الخيمة  |  elkaroozschool1.vercel.app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1783080"/>
            <a:ext cx="10728655" cy="1280160"/>
          </a:xfrm>
          <a:prstGeom prst="roundRect">
            <a:avLst/>
          </a:prstGeom>
          <a:solidFill>
            <a:srgbClr val="0F224C"/>
          </a:solidFill>
          <a:ln w="19050">
            <a:solidFill>
              <a:srgbClr val="00B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rIns="1097280" lIns="274320"/>
          <a:lstStyle/>
          <a:p>
            <a:pPr algn="r">
              <a:defRPr sz="2100" b="1">
                <a:solidFill>
                  <a:srgbClr val="FCDE80"/>
                </a:solidFill>
                <a:latin typeface="Dubai"/>
              </a:defRPr>
            </a:pPr>
            <a:r>
              <a:t>نظام صلاحيات هرمي مشدد (RBAC)</a:t>
            </a:r>
          </a:p>
          <a:p>
            <a:pPr algn="r">
              <a:spcBef>
                <a:spcPts val="400"/>
              </a:spcBef>
              <a:defRPr sz="1600">
                <a:solidFill>
                  <a:srgbClr val="FFFFFF"/>
                </a:solidFill>
                <a:latin typeface="Dubai"/>
              </a:defRPr>
            </a:pPr>
            <a:r>
              <a:t>فصل تام بين صلاحيات (المدير العام، المشرف، الخادم، السكرتارية، والطالب)، لضمان خصوصية بيانات كل فرقة.</a:t>
            </a:r>
          </a:p>
        </p:txBody>
      </p:sp>
      <p:pic>
        <p:nvPicPr>
          <p:cNvPr id="19" name="Picture 18" descr="icon_secu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2011680"/>
            <a:ext cx="822960" cy="82296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731520" y="3246120"/>
            <a:ext cx="10728655" cy="1280160"/>
          </a:xfrm>
          <a:prstGeom prst="roundRect">
            <a:avLst/>
          </a:prstGeom>
          <a:solidFill>
            <a:srgbClr val="0F224C"/>
          </a:solidFill>
          <a:ln w="19050">
            <a:solidFill>
              <a:srgbClr val="DAB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rIns="1097280" lIns="274320"/>
          <a:lstStyle/>
          <a:p>
            <a:pPr algn="r">
              <a:defRPr sz="2100" b="1">
                <a:solidFill>
                  <a:srgbClr val="FCDE80"/>
                </a:solidFill>
                <a:latin typeface="Dubai"/>
              </a:defRPr>
            </a:pPr>
            <a:r>
              <a:t>أمان قاعدة البيانات على مستوى كل صف (RLS)</a:t>
            </a:r>
          </a:p>
          <a:p>
            <a:pPr algn="r">
              <a:spcBef>
                <a:spcPts val="400"/>
              </a:spcBef>
              <a:defRPr sz="1600">
                <a:solidFill>
                  <a:srgbClr val="FFFFFF"/>
                </a:solidFill>
                <a:latin typeface="Dubai"/>
              </a:defRPr>
            </a:pPr>
            <a:r>
              <a:t>تطبيق Row-Level Security في PostgreSQL لمنع أي وصول أو تعديل غير مصرح به على مستوى الجداول.</a:t>
            </a:r>
          </a:p>
        </p:txBody>
      </p:sp>
      <p:pic>
        <p:nvPicPr>
          <p:cNvPr id="21" name="Picture 20" descr="icon_bi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9880" y="3474720"/>
            <a:ext cx="822960" cy="82296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731520" y="4709160"/>
            <a:ext cx="10728655" cy="1280160"/>
          </a:xfrm>
          <a:prstGeom prst="roundRect">
            <a:avLst/>
          </a:prstGeom>
          <a:solidFill>
            <a:srgbClr val="0F224C"/>
          </a:solidFill>
          <a:ln w="19050">
            <a:solidFill>
              <a:srgbClr val="10C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rIns="1097280" lIns="274320"/>
          <a:lstStyle/>
          <a:p>
            <a:pPr algn="r">
              <a:defRPr sz="2100" b="1">
                <a:solidFill>
                  <a:srgbClr val="FCDE80"/>
                </a:solidFill>
                <a:latin typeface="Dubai"/>
              </a:defRPr>
            </a:pPr>
            <a:r>
              <a:t>حماية الحسابات والنسخ السحابي الدوري</a:t>
            </a:r>
          </a:p>
          <a:p>
            <a:pPr algn="r">
              <a:spcBef>
                <a:spcPts val="400"/>
              </a:spcBef>
              <a:defRPr sz="1600">
                <a:solidFill>
                  <a:srgbClr val="FFFFFF"/>
                </a:solidFill>
                <a:latin typeface="Dubai"/>
              </a:defRPr>
            </a:pPr>
            <a:r>
              <a:t>قفل تسجيل الدخول المؤقت عند تكرار المحاولات الخاطئة مع نسخ احتياطي سحابي دوري لبيانات المنظومة.</a:t>
            </a:r>
          </a:p>
        </p:txBody>
      </p:sp>
      <p:pic>
        <p:nvPicPr>
          <p:cNvPr id="23" name="Picture 22" descr="icon_curriculu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9880" y="493776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-1645920"/>
            <a:ext cx="5486400" cy="5486400"/>
          </a:xfrm>
          <a:prstGeom prst="ellipse">
            <a:avLst/>
          </a:prstGeom>
          <a:solidFill>
            <a:srgbClr val="0A1838"/>
          </a:solidFill>
          <a:ln w="25400">
            <a:solidFill>
              <a:srgbClr val="1A3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-914400" y="-914400"/>
            <a:ext cx="4754880" cy="4754880"/>
          </a:xfrm>
          <a:prstGeom prst="donut">
            <a:avLst/>
          </a:prstGeom>
          <a:solidFill>
            <a:srgbClr val="DA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3474720"/>
            <a:ext cx="5303520" cy="5303520"/>
          </a:xfrm>
          <a:prstGeom prst="ellipse">
            <a:avLst/>
          </a:prstGeom>
          <a:solidFill>
            <a:srgbClr val="0F224C"/>
          </a:solidFill>
          <a:ln w="25400">
            <a:solidFill>
              <a:srgbClr val="1A3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nut 5"/>
          <p:cNvSpPr/>
          <p:nvPr/>
        </p:nvSpPr>
        <p:spPr>
          <a:xfrm>
            <a:off x="9326880" y="4114800"/>
            <a:ext cx="4023360" cy="4023360"/>
          </a:xfrm>
          <a:prstGeom prst="donut">
            <a:avLst/>
          </a:prstGeom>
          <a:solidFill>
            <a:srgbClr val="DA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47120" y="1645920"/>
            <a:ext cx="365760" cy="365760"/>
          </a:xfrm>
          <a:prstGeom prst="ellipse">
            <a:avLst/>
          </a:prstGeom>
          <a:solidFill>
            <a:srgbClr val="00B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5303520"/>
            <a:ext cx="320040" cy="320040"/>
          </a:xfrm>
          <a:prstGeom prst="ellipse">
            <a:avLst/>
          </a:prstGeom>
          <a:solidFill>
            <a:srgbClr val="FC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589520" y="365760"/>
            <a:ext cx="3840480" cy="411480"/>
          </a:xfrm>
          <a:prstGeom prst="roundRect">
            <a:avLst/>
          </a:prstGeom>
          <a:solidFill>
            <a:srgbClr val="0F224C"/>
          </a:solidFill>
          <a:ln w="19050">
            <a:solidFill>
              <a:srgbClr val="DAB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CDE80"/>
                </a:solidFill>
                <a:latin typeface="Dubai"/>
              </a:defRPr>
            </a:pPr>
            <a:r>
              <a:t>✨ المنصة متاحة ومفعلة على الهواء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6858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200" b="1">
                <a:solidFill>
                  <a:srgbClr val="FFFFFF"/>
                </a:solidFill>
                <a:latin typeface="Dubai"/>
              </a:defRPr>
            </a:pPr>
            <a:r>
              <a:t>ابدأ التجربة الحية لمنظومة مدرسة الكاروز الآن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92608"/>
            <a:ext cx="1051560" cy="1051560"/>
          </a:xfrm>
          <a:prstGeom prst="ellipse">
            <a:avLst/>
          </a:prstGeom>
          <a:solidFill>
            <a:srgbClr val="0F224C"/>
          </a:solidFill>
          <a:ln w="19050">
            <a:solidFill>
              <a:srgbClr val="DAB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56616"/>
            <a:ext cx="914400" cy="9144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31520" y="1536192"/>
            <a:ext cx="10728655" cy="27432"/>
          </a:xfrm>
          <a:prstGeom prst="rect">
            <a:avLst/>
          </a:prstGeom>
          <a:solidFill>
            <a:srgbClr val="DAB23C"/>
          </a:solidFill>
          <a:ln>
            <a:solidFill>
              <a:srgbClr val="DAB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0" y="1517904"/>
            <a:ext cx="4144975" cy="54864"/>
          </a:xfrm>
          <a:prstGeom prst="rect">
            <a:avLst/>
          </a:prstGeom>
          <a:solidFill>
            <a:srgbClr val="00BEE4"/>
          </a:solidFill>
          <a:ln>
            <a:solidFill>
              <a:srgbClr val="00B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1A3876"/>
          </a:solidFill>
          <a:ln>
            <a:solidFill>
              <a:srgbClr val="1A3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292840" y="6492240"/>
            <a:ext cx="146304" cy="146304"/>
          </a:xfrm>
          <a:prstGeom prst="ellipse">
            <a:avLst/>
          </a:prstGeom>
          <a:solidFill>
            <a:srgbClr val="10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ECDE1"/>
                </a:solidFill>
                <a:latin typeface="Dubai"/>
              </a:defRPr>
            </a:pPr>
            <a:r>
              <a:t>مدرسة الكاروز للكتاب المقدس • كنيسة مارمرقس الرسول بالمنشية — شبرا الخيمة  |  elkaroozschool1.vercel.app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1783080"/>
            <a:ext cx="3291840" cy="4343400"/>
          </a:xfrm>
          <a:prstGeom prst="roundRect">
            <a:avLst/>
          </a:prstGeom>
          <a:solidFill>
            <a:srgbClr val="0F224C"/>
          </a:solidFill>
          <a:ln w="31750">
            <a:solidFill>
              <a:srgbClr val="DAB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063240"/>
          <a:lstStyle/>
          <a:p>
            <a:pPr algn="ctr">
              <a:defRPr sz="1600" b="1">
                <a:solidFill>
                  <a:srgbClr val="FCDE80"/>
                </a:solidFill>
                <a:latin typeface="Dubai"/>
              </a:defRPr>
            </a:pPr>
            <a:r>
              <a:t>امسح بكاميرا هاتفك</a:t>
            </a:r>
          </a:p>
          <a:p>
            <a:pPr algn="ctr">
              <a:defRPr sz="1200" b="1">
                <a:solidFill>
                  <a:srgbClr val="FFFFFF"/>
                </a:solidFill>
                <a:latin typeface="Dubai"/>
              </a:defRPr>
            </a:pPr>
            <a:r>
              <a:t>elkaroozschool1.vercel.app</a:t>
            </a:r>
          </a:p>
        </p:txBody>
      </p:sp>
      <p:pic>
        <p:nvPicPr>
          <p:cNvPr id="19" name="Picture 18" descr="live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057400"/>
            <a:ext cx="2651760" cy="2651760"/>
          </a:xfrm>
          <a:prstGeom prst="rect">
            <a:avLst/>
          </a:prstGeom>
        </p:spPr>
      </p:pic>
      <p:pic>
        <p:nvPicPr>
          <p:cNvPr id="20" name="Picture 19" descr="mockup_phone_log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828800"/>
            <a:ext cx="2103120" cy="420624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492240" y="1783080"/>
            <a:ext cx="4967935" cy="4343400"/>
          </a:xfrm>
          <a:prstGeom prst="roundRect">
            <a:avLst/>
          </a:prstGeom>
          <a:solidFill>
            <a:srgbClr val="0F224C"/>
          </a:solidFill>
          <a:ln w="25400">
            <a:solidFill>
              <a:srgbClr val="00B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 rIns="365760" lIns="365760"/>
          <a:lstStyle/>
          <a:p>
            <a:pPr algn="r">
              <a:defRPr sz="2400" b="1">
                <a:solidFill>
                  <a:srgbClr val="FCDE80"/>
                </a:solidFill>
                <a:latin typeface="Dubai"/>
              </a:defRPr>
            </a:pPr>
            <a:r>
              <a:t>مرحباً بكم في منصتكم الرقمية</a:t>
            </a:r>
          </a:p>
          <a:p>
            <a:pPr algn="r">
              <a:spcBef>
                <a:spcPts val="1000"/>
              </a:spcBef>
              <a:defRPr sz="1600" b="1">
                <a:solidFill>
                  <a:srgbClr val="FFFFFF"/>
                </a:solidFill>
                <a:latin typeface="Dubai"/>
              </a:defRPr>
            </a:pPr>
            <a:r>
              <a:t>⭐ الدخول الفوري بدون أي تثبيت</a:t>
            </a:r>
          </a:p>
          <a:p>
            <a:pPr algn="r">
              <a:spcBef>
                <a:spcPts val="200"/>
              </a:spcBef>
              <a:defRPr sz="1300">
                <a:solidFill>
                  <a:srgbClr val="BECDE1"/>
                </a:solidFill>
                <a:latin typeface="Dubai"/>
              </a:defRPr>
            </a:pPr>
            <a:r>
              <a:t>المنظومة متاحة سحابياً على مدار الساعة لجميع الخدام والطلاب.</a:t>
            </a:r>
          </a:p>
          <a:p>
            <a:pPr algn="r">
              <a:spcBef>
                <a:spcPts val="1000"/>
              </a:spcBef>
              <a:defRPr sz="1600" b="1">
                <a:solidFill>
                  <a:srgbClr val="FFFFFF"/>
                </a:solidFill>
                <a:latin typeface="Dubai"/>
              </a:defRPr>
            </a:pPr>
            <a:r>
              <a:t>⭐ استكشاف موسوعة الكتاب المقدس</a:t>
            </a:r>
          </a:p>
          <a:p>
            <a:pPr algn="r">
              <a:spcBef>
                <a:spcPts val="200"/>
              </a:spcBef>
              <a:defRPr sz="1300">
                <a:solidFill>
                  <a:srgbClr val="BECDE1"/>
                </a:solidFill>
                <a:latin typeface="Dubai"/>
              </a:defRPr>
            </a:pPr>
            <a:r>
              <a:t>تصفح الأسفار والتفاسير والخرائط متاح مجاناً للجميع بدون قيود.</a:t>
            </a:r>
          </a:p>
          <a:p>
            <a:pPr algn="r">
              <a:spcBef>
                <a:spcPts val="1000"/>
              </a:spcBef>
              <a:defRPr sz="1600" b="1">
                <a:solidFill>
                  <a:srgbClr val="FFFFFF"/>
                </a:solidFill>
                <a:latin typeface="Dubai"/>
              </a:defRPr>
            </a:pPr>
            <a:r>
              <a:t>⭐ تطبيق هاتف خفيف وسريع</a:t>
            </a:r>
          </a:p>
          <a:p>
            <a:pPr algn="r">
              <a:spcBef>
                <a:spcPts val="200"/>
              </a:spcBef>
              <a:defRPr sz="1300">
                <a:solidFill>
                  <a:srgbClr val="BECDE1"/>
                </a:solidFill>
                <a:latin typeface="Dubai"/>
              </a:defRPr>
            </a:pPr>
            <a:r>
              <a:t>يمكن لأي طالب إضافة المنظومة للشاشة الرئيسية بنقرة واحدة كتطبيق أصيل.</a:t>
            </a:r>
          </a:p>
          <a:p>
            <a:pPr algn="r">
              <a:spcBef>
                <a:spcPts val="1000"/>
              </a:spcBef>
              <a:defRPr sz="1600" b="1">
                <a:solidFill>
                  <a:srgbClr val="FFFFFF"/>
                </a:solidFill>
                <a:latin typeface="Dubai"/>
              </a:defRPr>
            </a:pPr>
            <a:r>
              <a:t>⭐ الرابط الرسمي المعتمد للمنصة</a:t>
            </a:r>
          </a:p>
          <a:p>
            <a:pPr algn="r">
              <a:spcBef>
                <a:spcPts val="200"/>
              </a:spcBef>
              <a:defRPr sz="1300">
                <a:solidFill>
                  <a:srgbClr val="FCDE80"/>
                </a:solidFill>
                <a:latin typeface="Dubai"/>
              </a:defRPr>
            </a:pPr>
            <a:r>
              <a:t>https://elkaroozschool1.vercel.app/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